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75" r:id="rId6"/>
    <p:sldId id="276" r:id="rId7"/>
    <p:sldId id="259" r:id="rId8"/>
    <p:sldId id="260" r:id="rId9"/>
    <p:sldId id="261" r:id="rId10"/>
    <p:sldId id="277" r:id="rId11"/>
    <p:sldId id="269" r:id="rId12"/>
    <p:sldId id="263" r:id="rId13"/>
    <p:sldId id="264" r:id="rId14"/>
    <p:sldId id="273" r:id="rId15"/>
    <p:sldId id="272" r:id="rId16"/>
    <p:sldId id="265" r:id="rId17"/>
    <p:sldId id="278" r:id="rId18"/>
    <p:sldId id="268" r:id="rId19"/>
    <p:sldId id="267" r:id="rId20"/>
  </p:sldIdLst>
  <p:sldSz cx="9144000" cy="5143500" type="screen16x9"/>
  <p:notesSz cx="6858000" cy="9144000"/>
  <p:embeddedFontLst>
    <p:embeddedFont>
      <p:font typeface="Economica" panose="020B0604020202020204" charset="0"/>
      <p:regular r:id="rId22"/>
      <p:bold r:id="rId23"/>
      <p:italic r:id="rId24"/>
      <p:boldItalic r:id="rId25"/>
    </p:embeddedFont>
    <p:embeddedFont>
      <p:font typeface="Open Sans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46" y="-25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78614" y="1435207"/>
            <a:ext cx="3789826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800" dirty="0" err="1" smtClean="0">
                <a:latin typeface="+mj-lt"/>
                <a:ea typeface="Open Sans" panose="020B0604020202020204" charset="0"/>
                <a:cs typeface="Open Sans" panose="020B0604020202020204" charset="0"/>
              </a:rPr>
              <a:t>Вебзастосунок</a:t>
            </a:r>
            <a:r>
              <a:rPr lang="uk-UA" sz="2800" dirty="0" smtClean="0">
                <a:latin typeface="+mj-lt"/>
                <a:ea typeface="Open Sans" panose="020B0604020202020204" charset="0"/>
                <a:cs typeface="Open Sans" panose="020B0604020202020204" charset="0"/>
              </a:rPr>
              <a:t> для онлайн-бібліотеки</a:t>
            </a:r>
            <a:endParaRPr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131175" y="3308175"/>
            <a:ext cx="6702879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Виконав:		              Керівник:</a:t>
            </a:r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/>
            </a:r>
            <a:b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</a:b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Студент групи ПЗПІ-22-1               Доцент кафедри ПІ</a:t>
            </a:r>
            <a:b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</a:b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Єнін Б.Г.                                             Чуприна А.С.</a:t>
            </a:r>
            <a:endParaRPr sz="16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3716039" y="4604859"/>
            <a:ext cx="1447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6 липня 2026</a:t>
            </a:r>
            <a:endParaRPr lang="uk-UA" sz="16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78770" y="-5334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  <a:ea typeface="Open Sans" panose="020B0604020202020204" charset="0"/>
                <a:cs typeface="Open Sans" panose="020B0604020202020204" charset="0"/>
              </a:rPr>
              <a:t>Мета роботи</a:t>
            </a:r>
            <a:endParaRPr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204300" y="836543"/>
            <a:ext cx="8520600" cy="3704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sz="1600" dirty="0" smtClean="0">
                <a:latin typeface="+mn-lt"/>
              </a:rPr>
              <a:t>Мета – створити </a:t>
            </a:r>
            <a:r>
              <a:rPr lang="uk-UA" sz="1600" dirty="0" err="1" smtClean="0">
                <a:latin typeface="+mn-lt"/>
              </a:rPr>
              <a:t>вебзастосунок</a:t>
            </a:r>
            <a:r>
              <a:rPr lang="uk-UA" sz="1600" dirty="0" smtClean="0">
                <a:latin typeface="+mn-lt"/>
              </a:rPr>
              <a:t> для онлайн-бібліотеки, який дозволить користувачам:</a:t>
            </a:r>
          </a:p>
          <a:p>
            <a:pPr marL="114300" indent="0">
              <a:buNone/>
            </a:pPr>
            <a:endParaRPr lang="uk-UA" sz="1600" dirty="0" smtClean="0">
              <a:latin typeface="+mn-lt"/>
            </a:endParaRPr>
          </a:p>
          <a:p>
            <a:r>
              <a:rPr lang="uk-UA" sz="1600" dirty="0" smtClean="0">
                <a:latin typeface="+mn-lt"/>
              </a:rPr>
              <a:t>читати електронні книги;</a:t>
            </a:r>
          </a:p>
          <a:p>
            <a:r>
              <a:rPr lang="uk-UA" sz="1600" dirty="0" smtClean="0">
                <a:latin typeface="+mn-lt"/>
              </a:rPr>
              <a:t>вести персональні списки книг;</a:t>
            </a:r>
          </a:p>
          <a:p>
            <a:r>
              <a:rPr lang="uk-UA" sz="1600" dirty="0" smtClean="0">
                <a:latin typeface="+mn-lt"/>
              </a:rPr>
              <a:t>виставляти оцінки;</a:t>
            </a:r>
          </a:p>
          <a:p>
            <a:r>
              <a:rPr lang="uk-UA" sz="1600" dirty="0" smtClean="0">
                <a:latin typeface="+mn-lt"/>
              </a:rPr>
              <a:t>залишати коментарі;</a:t>
            </a:r>
          </a:p>
          <a:p>
            <a:r>
              <a:rPr lang="uk-UA" sz="1600" dirty="0" smtClean="0">
                <a:latin typeface="+mn-lt"/>
              </a:rPr>
              <a:t>переглядати профілі зі списками інших користувачів;</a:t>
            </a:r>
            <a:endParaRPr lang="uk-UA" sz="1600" dirty="0">
              <a:latin typeface="+mn-lt"/>
            </a:endParaRPr>
          </a:p>
          <a:p>
            <a:endParaRPr lang="uk-UA" sz="1600" dirty="0">
              <a:latin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+mn-lt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268925" y="-10200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  <a:ea typeface="Open Sans" panose="020B0604020202020204" charset="0"/>
                <a:cs typeface="Open Sans" panose="020B0604020202020204" charset="0"/>
              </a:rPr>
              <a:t>Аналіз проблеми (аналіз існуючих рішень) </a:t>
            </a:r>
            <a:endParaRPr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68925" y="2357197"/>
            <a:ext cx="8520600" cy="1834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600" dirty="0" smtClean="0">
                <a:solidFill>
                  <a:srgbClr val="0D0D0D"/>
                </a:solidFill>
                <a:highlight>
                  <a:srgbClr val="FFFFFF"/>
                </a:highlight>
                <a:latin typeface="+mn-lt"/>
                <a:ea typeface="Open Sans" panose="020B0604020202020204" charset="0"/>
                <a:cs typeface="Open Sans" panose="020B0604020202020204" charset="0"/>
              </a:rPr>
              <a:t>Аналоги на ринку:</a:t>
            </a:r>
          </a:p>
          <a:p>
            <a:pPr>
              <a:buClr>
                <a:srgbClr val="000000"/>
              </a:buClr>
            </a:pPr>
            <a:r>
              <a:rPr lang="en-US" sz="1600" dirty="0" smtClean="0">
                <a:solidFill>
                  <a:srgbClr val="000000"/>
                </a:solidFill>
                <a:latin typeface="+mn-lt"/>
              </a:rPr>
              <a:t>Amazon (Kindle Unlimited);</a:t>
            </a:r>
            <a:endParaRPr lang="en-US" sz="1600" dirty="0" smtClean="0">
              <a:solidFill>
                <a:srgbClr val="000000"/>
              </a:solidFill>
              <a:latin typeface="+mn-lt"/>
            </a:endParaRPr>
          </a:p>
          <a:p>
            <a:pPr>
              <a:buClr>
                <a:srgbClr val="000000"/>
              </a:buClr>
            </a:pPr>
            <a:r>
              <a:rPr lang="en-US" sz="1600" dirty="0" err="1" smtClean="0">
                <a:solidFill>
                  <a:srgbClr val="000000"/>
                </a:solidFill>
                <a:latin typeface="+mn-lt"/>
              </a:rPr>
              <a:t>Librarius</a:t>
            </a:r>
            <a:r>
              <a:rPr lang="en-US" sz="1600" dirty="0" smtClean="0">
                <a:solidFill>
                  <a:srgbClr val="000000"/>
                </a:solidFill>
                <a:latin typeface="+mn-lt"/>
              </a:rPr>
              <a:t>;</a:t>
            </a:r>
          </a:p>
          <a:p>
            <a:pPr>
              <a:buClr>
                <a:srgbClr val="000000"/>
              </a:buClr>
            </a:pPr>
            <a:r>
              <a:rPr lang="en-US" sz="1600" dirty="0" err="1" smtClean="0">
                <a:solidFill>
                  <a:srgbClr val="000000"/>
                </a:solidFill>
                <a:latin typeface="+mn-lt"/>
              </a:rPr>
              <a:t>OpenLibrary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</a:t>
            </a:r>
            <a:endParaRPr lang="uk-UA" sz="1600" dirty="0">
              <a:solidFill>
                <a:srgbClr val="000000"/>
              </a:solidFill>
              <a:latin typeface="+mn-lt"/>
            </a:endParaRPr>
          </a:p>
          <a:p>
            <a:pPr marL="114300" lvl="0" indent="0">
              <a:buClr>
                <a:srgbClr val="000000"/>
              </a:buClr>
              <a:buNone/>
            </a:pPr>
            <a:endParaRPr lang="uk-UA" sz="1600" dirty="0" smtClean="0">
              <a:solidFill>
                <a:srgbClr val="0D0D0D"/>
              </a:solidFill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6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68925" y="855948"/>
            <a:ext cx="8509315" cy="1676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Однією з основних проблем є те, що користувачам було б зручно одночасно мати і онлайн-бібліотеку з простим інтерфейсом, і можливість вести списки прочитаного та ділитись оцінками творів з іншими користувачами.</a:t>
            </a:r>
          </a:p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Велика частка онлайн-бібліотек або не включають в себе ведення обліку прочитаних книг, або мають складний користувацький інтерфейс.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25" y="-78779"/>
            <a:ext cx="8520600" cy="8313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+mj-lt"/>
                <a:ea typeface="Open Sans" panose="020B0604020202020204" charset="0"/>
                <a:cs typeface="Open Sans" panose="020B0604020202020204" charset="0"/>
              </a:rPr>
              <a:t>Amazon (Kindle Unlimited)</a:t>
            </a:r>
            <a:endParaRPr lang="uk-UA"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"/>
          <a:stretch/>
        </p:blipFill>
        <p:spPr bwMode="auto">
          <a:xfrm>
            <a:off x="5044709" y="849648"/>
            <a:ext cx="3978247" cy="193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68925" y="849648"/>
            <a:ext cx="5146594" cy="3398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Переваги: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велика книжкова база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надійність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і </a:t>
            </a: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популярність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бренду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;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доступ до </a:t>
            </a:r>
            <a:r>
              <a:rPr lang="uk-UA" sz="1600" dirty="0" err="1" smtClean="0">
                <a:latin typeface="+mn-lt"/>
                <a:ea typeface="Open Sans"/>
                <a:cs typeface="Open Sans"/>
                <a:sym typeface="Open Sans"/>
              </a:rPr>
              <a:t>аудіокниг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, коміксів та </a:t>
            </a:r>
            <a:r>
              <a:rPr lang="uk-UA" sz="1600" dirty="0" err="1" smtClean="0">
                <a:latin typeface="+mn-lt"/>
                <a:ea typeface="Open Sans"/>
                <a:cs typeface="Open Sans"/>
                <a:sym typeface="Open Sans"/>
              </a:rPr>
              <a:t>манги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.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Н</a:t>
            </a: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едоліки</a:t>
            </a:r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Складний інтерфейс через багатофункціональність сервісу;</a:t>
            </a:r>
            <a:endParaRPr lang="en-US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частина книг недоступні за підпискою і повинні купуватись окремо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нема </a:t>
            </a:r>
            <a:r>
              <a:rPr lang="ru-RU" sz="1600" dirty="0" err="1">
                <a:latin typeface="+mn-lt"/>
                <a:ea typeface="Open Sans"/>
                <a:cs typeface="Open Sans"/>
                <a:sym typeface="Open Sans"/>
              </a:rPr>
              <a:t>можливості</a:t>
            </a:r>
            <a:r>
              <a:rPr lang="ru-RU" sz="1600" dirty="0">
                <a:latin typeface="+mn-lt"/>
                <a:ea typeface="Open Sans"/>
                <a:cs typeface="Open Sans"/>
                <a:sym typeface="Open Sans"/>
              </a:rPr>
              <a:t> вести списки 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книг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не призначений для українського ринку.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</p:txBody>
      </p:sp>
      <p:pic>
        <p:nvPicPr>
          <p:cNvPr id="7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257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3175" y="-86399"/>
            <a:ext cx="8520600" cy="8313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latin typeface="+mj-lt"/>
                <a:ea typeface="Open Sans" panose="020B0604020202020204" charset="0"/>
                <a:cs typeface="Open Sans" panose="020B0604020202020204" charset="0"/>
              </a:rPr>
              <a:t>Librarius</a:t>
            </a:r>
            <a:endParaRPr lang="uk-UA"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3175" y="849648"/>
            <a:ext cx="5146594" cy="2832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Переваги: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якісний мобільний застосунок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можливість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читати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книги офлайн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підтримка </a:t>
            </a:r>
            <a:r>
              <a:rPr lang="uk-UA" sz="1600" dirty="0" err="1" smtClean="0">
                <a:latin typeface="+mn-lt"/>
                <a:ea typeface="Open Sans"/>
                <a:cs typeface="Open Sans"/>
                <a:sym typeface="Open Sans"/>
              </a:rPr>
              <a:t>аудіокниг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;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гнучка система придбання книг (купівля, підписка, оренда).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Н</a:t>
            </a: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едоліки</a:t>
            </a:r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не орієнтований на ведення списків книг;</a:t>
            </a:r>
            <a:endParaRPr lang="en-US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незручна вибірка категорій для фільтрації.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6" r="767"/>
          <a:stretch/>
        </p:blipFill>
        <p:spPr bwMode="auto">
          <a:xfrm>
            <a:off x="5021048" y="849647"/>
            <a:ext cx="3978247" cy="193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24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25" y="-101639"/>
            <a:ext cx="8520600" cy="8313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+mj-lt"/>
                <a:ea typeface="Open Sans" panose="020B0604020202020204" charset="0"/>
                <a:cs typeface="Open Sans" panose="020B0604020202020204" charset="0"/>
              </a:rPr>
              <a:t>Open Library</a:t>
            </a:r>
            <a:endParaRPr lang="uk-UA" sz="2800" dirty="0">
              <a:latin typeface="+mj-lt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8925" y="849648"/>
            <a:ext cx="5269832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Переваги: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велика база даних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наявність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видань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різними</a:t>
            </a:r>
            <a:r>
              <a:rPr lang="ru-RU" sz="1600" dirty="0" smtClean="0">
                <a:latin typeface="+mn-lt"/>
                <a:ea typeface="Open Sans"/>
                <a:cs typeface="Open Sans"/>
                <a:sym typeface="Open Sans"/>
              </a:rPr>
              <a:t> </a:t>
            </a:r>
            <a:r>
              <a:rPr lang="ru-RU" sz="1600" dirty="0" err="1" smtClean="0">
                <a:latin typeface="+mn-lt"/>
                <a:ea typeface="Open Sans"/>
                <a:cs typeface="Open Sans"/>
                <a:sym typeface="Open Sans"/>
              </a:rPr>
              <a:t>мовами</a:t>
            </a: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можливість позичати книги;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можливість ведення списків книг.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  <a:p>
            <a:pPr lvl="0"/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Н</a:t>
            </a: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едоліки</a:t>
            </a:r>
            <a:r>
              <a:rPr lang="uk-UA" sz="1600" dirty="0">
                <a:latin typeface="+mn-lt"/>
                <a:ea typeface="Open Sans" panose="020B0604020202020204" charset="0"/>
                <a:cs typeface="Open Sans" panose="020B0604020202020204" charset="0"/>
              </a:rPr>
              <a:t>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незручний користувацький інтерфейс;</a:t>
            </a:r>
            <a:endParaRPr lang="en-US" sz="1600" dirty="0"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застарілий дизайн в частині розділів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  <a:sym typeface="Open Sans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uk-UA" sz="1600" dirty="0" smtClean="0">
                <a:latin typeface="+mn-lt"/>
                <a:ea typeface="Open Sans"/>
                <a:cs typeface="Open Sans"/>
                <a:sym typeface="Open Sans"/>
              </a:rPr>
              <a:t>не всі книги доступні для прочитання на сайті.</a:t>
            </a:r>
            <a:endParaRPr lang="uk-UA" sz="1600" dirty="0">
              <a:latin typeface="+mn-lt"/>
              <a:ea typeface="Open Sans"/>
              <a:cs typeface="Open Sans"/>
              <a:sym typeface="Open Sans"/>
            </a:endParaRPr>
          </a:p>
        </p:txBody>
      </p:sp>
      <p:pic>
        <p:nvPicPr>
          <p:cNvPr id="6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1"/>
          <a:stretch/>
        </p:blipFill>
        <p:spPr bwMode="auto">
          <a:xfrm>
            <a:off x="5044709" y="849648"/>
            <a:ext cx="3978247" cy="193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207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68925" y="-11769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Постановка задачі та опис системи</a:t>
            </a:r>
            <a:endParaRPr sz="2800" dirty="0">
              <a:latin typeface="+mj-lt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98905" y="62324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1600" dirty="0" smtClean="0">
                <a:latin typeface="+mn-lt"/>
              </a:rPr>
              <a:t>Задача - розробити </a:t>
            </a:r>
            <a:r>
              <a:rPr lang="uk-UA" sz="1600" dirty="0" err="1">
                <a:latin typeface="+mn-lt"/>
              </a:rPr>
              <a:t>вебзастосунок</a:t>
            </a:r>
            <a:r>
              <a:rPr lang="uk-UA" sz="1600" dirty="0">
                <a:latin typeface="+mn-lt"/>
              </a:rPr>
              <a:t> онлайн-бібліотеки, який забезпечує</a:t>
            </a:r>
            <a:r>
              <a:rPr lang="uk-UA" sz="1600" dirty="0" smtClean="0">
                <a:latin typeface="+mn-lt"/>
              </a:rPr>
              <a:t>:</a:t>
            </a:r>
            <a:endParaRPr lang="uk-UA" sz="1600" dirty="0">
              <a:latin typeface="+mn-lt"/>
            </a:endParaRPr>
          </a:p>
          <a:p>
            <a:pPr lvl="0"/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доступ до прочитання електронних книг</a:t>
            </a: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;</a:t>
            </a:r>
            <a:endParaRPr lang="en-US" sz="16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  <a:p>
            <a:pPr lvl="0"/>
            <a:r>
              <a:rPr lang="ru-RU" sz="1600" dirty="0" err="1">
                <a:latin typeface="+mn-lt"/>
              </a:rPr>
              <a:t>м</a:t>
            </a:r>
            <a:r>
              <a:rPr lang="ru-RU" sz="1600" dirty="0" err="1" smtClean="0">
                <a:latin typeface="+mn-lt"/>
              </a:rPr>
              <a:t>ожливість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 smtClean="0">
                <a:latin typeface="+mn-lt"/>
              </a:rPr>
              <a:t>ведення</a:t>
            </a:r>
            <a:r>
              <a:rPr lang="ru-RU" sz="1600" dirty="0" smtClean="0">
                <a:latin typeface="+mn-lt"/>
              </a:rPr>
              <a:t> </a:t>
            </a:r>
            <a:r>
              <a:rPr lang="ru-RU" sz="1600" dirty="0" err="1" smtClean="0">
                <a:latin typeface="+mn-lt"/>
              </a:rPr>
              <a:t>списків</a:t>
            </a:r>
            <a:r>
              <a:rPr lang="ru-RU" sz="1600" dirty="0" smtClean="0">
                <a:latin typeface="+mn-lt"/>
              </a:rPr>
              <a:t> книг</a:t>
            </a:r>
            <a:r>
              <a:rPr lang="uk-UA" sz="1600" dirty="0" smtClean="0">
                <a:latin typeface="+mn-lt"/>
              </a:rPr>
              <a:t>;</a:t>
            </a:r>
            <a:endParaRPr lang="uk-UA" sz="1600" dirty="0">
              <a:latin typeface="+mn-lt"/>
            </a:endParaRPr>
          </a:p>
          <a:p>
            <a:pPr lvl="0"/>
            <a:r>
              <a:rPr lang="uk-UA" sz="1600" dirty="0" smtClean="0">
                <a:latin typeface="+mn-lt"/>
              </a:rPr>
              <a:t>можливість залишати оцінки і коментарі;</a:t>
            </a:r>
          </a:p>
          <a:p>
            <a:pPr lvl="0"/>
            <a:r>
              <a:rPr lang="uk-UA" sz="1600" dirty="0" smtClean="0">
                <a:latin typeface="+mn-lt"/>
              </a:rPr>
              <a:t>доступ до платних книг за допомогою підписки.</a:t>
            </a:r>
          </a:p>
          <a:p>
            <a:pPr lvl="0"/>
            <a:endParaRPr lang="uk-UA" sz="1600" dirty="0">
              <a:latin typeface="+mn-lt"/>
            </a:endParaRPr>
          </a:p>
          <a:p>
            <a:pPr marL="114300" indent="0">
              <a:buNone/>
            </a:pPr>
            <a:r>
              <a:rPr lang="uk-UA" sz="1600" dirty="0" smtClean="0">
                <a:latin typeface="+mn-lt"/>
              </a:rPr>
              <a:t>Основні </a:t>
            </a:r>
            <a:r>
              <a:rPr lang="uk-UA" sz="1600" dirty="0">
                <a:latin typeface="+mn-lt"/>
              </a:rPr>
              <a:t>задачі розробки:</a:t>
            </a:r>
          </a:p>
          <a:p>
            <a:r>
              <a:rPr lang="uk-UA" sz="1600" dirty="0">
                <a:latin typeface="+mn-lt"/>
              </a:rPr>
              <a:t>створення адаптивного користувацького інтерфейсу; </a:t>
            </a:r>
          </a:p>
          <a:p>
            <a:r>
              <a:rPr lang="uk-UA" sz="1600" dirty="0">
                <a:latin typeface="+mn-lt"/>
              </a:rPr>
              <a:t>реалізація системи </a:t>
            </a:r>
            <a:r>
              <a:rPr lang="uk-UA" sz="1600" dirty="0" smtClean="0">
                <a:latin typeface="+mn-lt"/>
              </a:rPr>
              <a:t>реєстрації </a:t>
            </a:r>
            <a:r>
              <a:rPr lang="uk-UA" sz="1600" dirty="0">
                <a:latin typeface="+mn-lt"/>
              </a:rPr>
              <a:t>та автентифікації; </a:t>
            </a:r>
          </a:p>
          <a:p>
            <a:r>
              <a:rPr lang="uk-UA" sz="1600" dirty="0">
                <a:latin typeface="+mn-lt"/>
              </a:rPr>
              <a:t>розробка бази даних користувачів і книг; </a:t>
            </a:r>
          </a:p>
          <a:p>
            <a:r>
              <a:rPr lang="uk-UA" sz="1600" dirty="0">
                <a:latin typeface="+mn-lt"/>
              </a:rPr>
              <a:t>реалізація пошуку, фільтрації та сортування книг; </a:t>
            </a:r>
          </a:p>
          <a:p>
            <a:r>
              <a:rPr lang="uk-UA" sz="1600" dirty="0">
                <a:latin typeface="+mn-lt"/>
              </a:rPr>
              <a:t>інтеграція платіжної системи та </a:t>
            </a:r>
            <a:r>
              <a:rPr lang="en-US" sz="1600" dirty="0">
                <a:latin typeface="+mn-lt"/>
              </a:rPr>
              <a:t>email-</a:t>
            </a:r>
            <a:r>
              <a:rPr lang="uk-UA" sz="1600" dirty="0">
                <a:latin typeface="+mn-lt"/>
              </a:rPr>
              <a:t>розсилки; </a:t>
            </a:r>
          </a:p>
          <a:p>
            <a:r>
              <a:rPr lang="uk-UA" sz="1600" dirty="0" smtClean="0">
                <a:latin typeface="+mn-lt"/>
              </a:rPr>
              <a:t>реалізація адміністраторського функціоналу.</a:t>
            </a:r>
            <a:endParaRPr lang="uk-UA" sz="1600" dirty="0"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1600" dirty="0">
              <a:solidFill>
                <a:srgbClr val="0D0D0D"/>
              </a:solidFill>
              <a:highlight>
                <a:srgbClr val="FFFFFF"/>
              </a:highlight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600" dirty="0">
              <a:latin typeface="+mn-lt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07975" y="-102912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Вибір технологій розробки </a:t>
            </a:r>
            <a:endParaRPr sz="2800" dirty="0">
              <a:latin typeface="+mj-lt"/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08858" y="83785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uk-UA" sz="1600" dirty="0">
                <a:latin typeface="+mn-lt"/>
              </a:rPr>
              <a:t>Середовище розробки: </a:t>
            </a:r>
            <a:r>
              <a:rPr lang="en-US" sz="1600" dirty="0">
                <a:latin typeface="+mn-lt"/>
              </a:rPr>
              <a:t>IntelliJ </a:t>
            </a:r>
            <a:r>
              <a:rPr lang="en-US" sz="1600" dirty="0" smtClean="0">
                <a:latin typeface="+mn-lt"/>
              </a:rPr>
              <a:t>IDEA;</a:t>
            </a:r>
            <a:endParaRPr lang="uk-UA" sz="1600" dirty="0" smtClean="0">
              <a:latin typeface="+mn-lt"/>
            </a:endParaRPr>
          </a:p>
          <a:p>
            <a:r>
              <a:rPr lang="uk-UA" sz="1600" dirty="0">
                <a:latin typeface="+mn-lt"/>
              </a:rPr>
              <a:t>Клієнтська частина: </a:t>
            </a:r>
            <a:r>
              <a:rPr lang="en-US" sz="1600" dirty="0">
                <a:latin typeface="+mn-lt"/>
              </a:rPr>
              <a:t>HTML, CSS, JavaScript, </a:t>
            </a:r>
            <a:r>
              <a:rPr lang="en-US" sz="1600" dirty="0" err="1" smtClean="0">
                <a:latin typeface="+mn-lt"/>
              </a:rPr>
              <a:t>Thymeleaf</a:t>
            </a:r>
            <a:r>
              <a:rPr lang="en-US" sz="1600" dirty="0" smtClean="0">
                <a:latin typeface="+mn-lt"/>
              </a:rPr>
              <a:t>;</a:t>
            </a:r>
            <a:endParaRPr lang="en-US" sz="1600" dirty="0">
              <a:latin typeface="+mn-lt"/>
            </a:endParaRPr>
          </a:p>
          <a:p>
            <a:r>
              <a:rPr lang="uk-UA" sz="1600" dirty="0" smtClean="0">
                <a:latin typeface="+mn-lt"/>
              </a:rPr>
              <a:t>Серверна частина: </a:t>
            </a:r>
            <a:r>
              <a:rPr lang="en-US" sz="1600" dirty="0" smtClean="0">
                <a:latin typeface="+mn-lt"/>
              </a:rPr>
              <a:t>Java</a:t>
            </a:r>
            <a:r>
              <a:rPr lang="uk-UA" sz="1600" dirty="0" smtClean="0">
                <a:latin typeface="+mn-lt"/>
              </a:rPr>
              <a:t>, </a:t>
            </a:r>
            <a:r>
              <a:rPr lang="en-US" sz="1600" dirty="0" smtClean="0">
                <a:latin typeface="+mn-lt"/>
              </a:rPr>
              <a:t>Spring Boot;</a:t>
            </a:r>
            <a:endParaRPr lang="uk-UA" sz="1600" dirty="0" smtClean="0">
              <a:latin typeface="+mn-lt"/>
            </a:endParaRPr>
          </a:p>
          <a:p>
            <a:r>
              <a:rPr lang="uk-UA" sz="1600" dirty="0">
                <a:latin typeface="+mn-lt"/>
              </a:rPr>
              <a:t>Збірка: </a:t>
            </a:r>
            <a:r>
              <a:rPr lang="en-US" sz="1600" dirty="0" err="1" smtClean="0">
                <a:latin typeface="+mn-lt"/>
              </a:rPr>
              <a:t>Gradle</a:t>
            </a:r>
            <a:r>
              <a:rPr lang="en-US" sz="1600" dirty="0">
                <a:latin typeface="+mn-lt"/>
              </a:rPr>
              <a:t>;</a:t>
            </a:r>
            <a:endParaRPr lang="uk-UA" sz="1600" dirty="0" smtClean="0">
              <a:latin typeface="+mn-lt"/>
            </a:endParaRPr>
          </a:p>
          <a:p>
            <a:r>
              <a:rPr lang="uk-UA" sz="1600" dirty="0" smtClean="0">
                <a:latin typeface="+mn-lt"/>
              </a:rPr>
              <a:t>СУБД</a:t>
            </a:r>
            <a:r>
              <a:rPr lang="uk-UA" sz="1600" dirty="0">
                <a:latin typeface="+mn-lt"/>
              </a:rPr>
              <a:t>: </a:t>
            </a:r>
            <a:r>
              <a:rPr lang="en-US" sz="1600" dirty="0">
                <a:latin typeface="+mn-lt"/>
              </a:rPr>
              <a:t>Microsoft SQL </a:t>
            </a:r>
            <a:r>
              <a:rPr lang="en-US" sz="1600" dirty="0" smtClean="0">
                <a:latin typeface="+mn-lt"/>
              </a:rPr>
              <a:t>Server;</a:t>
            </a:r>
          </a:p>
          <a:p>
            <a:r>
              <a:rPr lang="uk-UA" sz="1600" dirty="0" smtClean="0">
                <a:latin typeface="+mn-lt"/>
              </a:rPr>
              <a:t>Платіжна система: </a:t>
            </a:r>
            <a:r>
              <a:rPr lang="en-US" sz="1600" dirty="0" err="1" smtClean="0">
                <a:latin typeface="+mn-lt"/>
              </a:rPr>
              <a:t>LiqPay</a:t>
            </a:r>
            <a:r>
              <a:rPr lang="en-US" sz="1600" dirty="0" smtClean="0">
                <a:latin typeface="+mn-lt"/>
              </a:rPr>
              <a:t>;</a:t>
            </a:r>
          </a:p>
          <a:p>
            <a:r>
              <a:rPr lang="uk-UA" sz="1600" dirty="0" smtClean="0">
                <a:latin typeface="+mn-lt"/>
              </a:rPr>
              <a:t>Відправка електронних листів: </a:t>
            </a:r>
            <a:r>
              <a:rPr lang="en-US" sz="1600" dirty="0" err="1" smtClean="0">
                <a:latin typeface="+mn-lt"/>
              </a:rPr>
              <a:t>SendGrid</a:t>
            </a:r>
            <a:r>
              <a:rPr lang="en-US" sz="1600" dirty="0" smtClean="0">
                <a:latin typeface="+mn-lt"/>
              </a:rPr>
              <a:t> API.</a:t>
            </a:r>
            <a:endParaRPr lang="en-US" sz="1600" dirty="0"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	</a:t>
            </a:r>
            <a: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/>
            </a:r>
            <a:br>
              <a:rPr lang="uk-UA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</a:br>
            <a:r>
              <a:rPr lang="en-US" sz="1600" dirty="0" smtClean="0">
                <a:latin typeface="+mn-lt"/>
                <a:ea typeface="Open Sans" panose="020B0604020202020204" charset="0"/>
                <a:cs typeface="Open Sans" panose="020B0604020202020204" charset="0"/>
              </a:rPr>
              <a:t>	</a:t>
            </a:r>
            <a:endParaRPr sz="1600" dirty="0">
              <a:latin typeface="+mn-lt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3" name="AutoShape 8" descr="Файл:IntelliJ IDEA Icon.svg — Вікіпеді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" name="AutoShape 10" descr="Файл:IntelliJ IDEA Icon.svg — Вікіпеді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+mj-lt"/>
              </a:rPr>
              <a:t>Архітектура </a:t>
            </a:r>
            <a:r>
              <a:rPr lang="uk" sz="2800" dirty="0" smtClean="0">
                <a:latin typeface="+mj-lt"/>
              </a:rPr>
              <a:t>створенного програмного забезпечення</a:t>
            </a:r>
            <a:endParaRPr sz="2800" dirty="0">
              <a:latin typeface="+mj-lt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3355085" y="1078992"/>
            <a:ext cx="2281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 smtClean="0"/>
              <a:t>Діаграма компонентів</a:t>
            </a:r>
            <a:endParaRPr lang="uk-UA" sz="1600" dirty="0"/>
          </a:p>
        </p:txBody>
      </p:sp>
      <p:pic>
        <p:nvPicPr>
          <p:cNvPr id="7" name="image1.png" descr="C:\Users\Asus\Pictures\Screenshots\Знімок екрана (2190)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603057" y="1386769"/>
            <a:ext cx="5785485" cy="3156585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+mj-lt"/>
              </a:rPr>
              <a:t>Архітектура </a:t>
            </a:r>
            <a:r>
              <a:rPr lang="uk" sz="2800" dirty="0" smtClean="0">
                <a:latin typeface="+mj-lt"/>
              </a:rPr>
              <a:t>створенного програмного забезпечення</a:t>
            </a:r>
            <a:endParaRPr sz="2800" dirty="0">
              <a:latin typeface="+mj-lt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3025708" y="1078992"/>
            <a:ext cx="2940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 smtClean="0"/>
              <a:t>Реляційна схема бази даних</a:t>
            </a:r>
            <a:endParaRPr lang="uk-UA" sz="1600" dirty="0"/>
          </a:p>
        </p:txBody>
      </p:sp>
      <p:pic>
        <p:nvPicPr>
          <p:cNvPr id="8" name="image2.png" descr="C:\Users\Asus\Pictures\Screenshots\Знімок екрана (2191)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34133" y="1491257"/>
            <a:ext cx="6323330" cy="326898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3922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3526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+mj-lt"/>
              </a:rPr>
              <a:t>Опис програмного забезпечення, що було використано у дослідженні</a:t>
            </a:r>
            <a:endParaRPr sz="2800" dirty="0">
              <a:latin typeface="+mj-lt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348266" y="1251389"/>
            <a:ext cx="4572000" cy="235756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err="1">
                <a:solidFill>
                  <a:srgbClr val="0D0D0D"/>
                </a:solidFill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Фреймворки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 та бібліотеки: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Spring Boot </a:t>
            </a:r>
            <a:r>
              <a:rPr lang="uk-UA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– </a:t>
            </a:r>
            <a:r>
              <a:rPr lang="uk-UA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основа для побудови серверної частини;</a:t>
            </a:r>
            <a:endParaRPr lang="uk-UA" sz="1600" dirty="0">
              <a:highlight>
                <a:srgbClr val="FFFFFF"/>
              </a:highlight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Spring Data JPA – </a:t>
            </a:r>
            <a:r>
              <a:rPr lang="uk-UA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для роботи з </a:t>
            </a:r>
            <a:r>
              <a:rPr lang="uk-UA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БД;</a:t>
            </a:r>
            <a:endParaRPr lang="uk-UA" sz="1600" dirty="0">
              <a:highlight>
                <a:srgbClr val="FFFFFF"/>
              </a:highlight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Spring Security – </a:t>
            </a:r>
            <a:r>
              <a:rPr lang="uk-UA" sz="1600" dirty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керування </a:t>
            </a:r>
            <a:r>
              <a:rPr lang="uk-UA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безпекою;</a:t>
            </a:r>
            <a:endParaRPr lang="en-US" sz="1600" dirty="0" smtClean="0">
              <a:highlight>
                <a:srgbClr val="FFFFFF"/>
              </a:highlight>
              <a:latin typeface="+mn-lt"/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 err="1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LiqPay</a:t>
            </a:r>
            <a:r>
              <a:rPr lang="en-US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 – </a:t>
            </a:r>
            <a:r>
              <a:rPr lang="uk-UA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обробка платежів;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 err="1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SendGrid</a:t>
            </a:r>
            <a:r>
              <a:rPr lang="en-US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 API – </a:t>
            </a:r>
            <a:r>
              <a:rPr lang="uk-UA" sz="1600" dirty="0" smtClean="0">
                <a:highlight>
                  <a:srgbClr val="FFFFFF"/>
                </a:highlight>
                <a:latin typeface="+mn-lt"/>
                <a:ea typeface="Open Sans"/>
                <a:cs typeface="Open Sans"/>
                <a:sym typeface="Open Sans"/>
              </a:rPr>
              <a:t>надсилання електронних листів.</a:t>
            </a:r>
            <a:endParaRPr lang="uk-UA" sz="1600" dirty="0">
              <a:highlight>
                <a:srgbClr val="FFFFFF"/>
              </a:highlight>
              <a:latin typeface="+mn-lt"/>
              <a:ea typeface="Open Sans"/>
              <a:cs typeface="Open Sans"/>
              <a:sym typeface="Open San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22265" y="1251389"/>
            <a:ext cx="4572000" cy="207441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Мови програмування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: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ea typeface="Open Sans"/>
                <a:cs typeface="Open Sans"/>
                <a:sym typeface="Open Sans"/>
              </a:rPr>
              <a:t>Java – </a:t>
            </a:r>
            <a:r>
              <a:rPr lang="uk-UA" sz="1600" dirty="0">
                <a:ea typeface="Open Sans"/>
                <a:cs typeface="Open Sans"/>
                <a:sym typeface="Open Sans"/>
              </a:rPr>
              <a:t>для серверної логіки;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ea typeface="Open Sans"/>
                <a:cs typeface="Open Sans"/>
                <a:sym typeface="Open Sans"/>
              </a:rPr>
              <a:t>HTML – </a:t>
            </a:r>
            <a:r>
              <a:rPr lang="uk-UA" sz="1600" dirty="0">
                <a:ea typeface="Open Sans"/>
                <a:cs typeface="Open Sans"/>
                <a:sym typeface="Open Sans"/>
              </a:rPr>
              <a:t>для сторінок </a:t>
            </a:r>
            <a:r>
              <a:rPr lang="uk-UA" sz="1600" dirty="0" err="1">
                <a:ea typeface="Open Sans"/>
                <a:cs typeface="Open Sans"/>
                <a:sym typeface="Open Sans"/>
              </a:rPr>
              <a:t>вебзастосунку</a:t>
            </a:r>
            <a:r>
              <a:rPr lang="uk-UA" sz="1600" dirty="0">
                <a:ea typeface="Open Sans"/>
                <a:cs typeface="Open Sans"/>
                <a:sym typeface="Open Sans"/>
              </a:rPr>
              <a:t>;</a:t>
            </a:r>
            <a:endParaRPr lang="en-US" sz="1600" dirty="0">
              <a:ea typeface="Open Sans"/>
              <a:cs typeface="Open Sans"/>
              <a:sym typeface="Open Sans"/>
            </a:endParaRP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CSS</a:t>
            </a:r>
            <a:r>
              <a:rPr lang="uk-UA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 – для стилізації елементів інтерфейсу;</a:t>
            </a:r>
          </a:p>
          <a:p>
            <a:pPr marL="457200" lvl="0" indent="-342900">
              <a:lnSpc>
                <a:spcPct val="115000"/>
              </a:lnSpc>
              <a:buSzPts val="1800"/>
              <a:buFont typeface="Open Sans"/>
              <a:buChar char="●"/>
            </a:pPr>
            <a:r>
              <a:rPr lang="en-US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JavaScript – </a:t>
            </a:r>
            <a:r>
              <a:rPr lang="uk-UA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для інтерактивного інтерфейсу і </a:t>
            </a:r>
            <a:r>
              <a:rPr lang="en-US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AJAX-</a:t>
            </a:r>
            <a:r>
              <a:rPr lang="uk-UA" sz="1600" dirty="0">
                <a:highlight>
                  <a:srgbClr val="FFFFFF"/>
                </a:highlight>
                <a:ea typeface="Open Sans"/>
                <a:cs typeface="Open Sans"/>
                <a:sym typeface="Open Sans"/>
              </a:rPr>
              <a:t>запитів.</a:t>
            </a:r>
            <a:endParaRPr lang="en-US" sz="1600" dirty="0">
              <a:solidFill>
                <a:srgbClr val="0D0D0D"/>
              </a:solidFill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4970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767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Дизайн системи</a:t>
            </a:r>
            <a:endParaRPr sz="2800" dirty="0">
              <a:latin typeface="+mj-lt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332740" y="1381125"/>
            <a:ext cx="3037840" cy="23812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36236" y="878621"/>
            <a:ext cx="29883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1600" dirty="0" smtClean="0"/>
              <a:t>Структура серверної частини</a:t>
            </a:r>
            <a:endParaRPr lang="uk-UA" sz="1600" dirty="0"/>
          </a:p>
        </p:txBody>
      </p:sp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4216717" y="1378446"/>
            <a:ext cx="4241483" cy="35356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022034" y="878621"/>
            <a:ext cx="27350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UML</a:t>
            </a:r>
            <a:r>
              <a:rPr lang="uk-UA" sz="1600" dirty="0" smtClean="0"/>
              <a:t> діаграма прецедентів</a:t>
            </a:r>
            <a:endParaRPr lang="uk-UA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38706" y="-6917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Приклад реалізації</a:t>
            </a:r>
            <a:endParaRPr sz="2800" dirty="0">
              <a:latin typeface="+mj-lt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68925" y="8912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LinkedHashMap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public_key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publicKey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"3");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recurringEnabled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"1");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subscribe_periodicity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getLiqPayPeriodicity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subscribe_date_start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getNextChargeDate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plan.getAmountForLiqPay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currency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currency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"Підписка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YBLibrary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plan.getTitle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result_url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resultUrl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server_url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serverUrl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sandbox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sandbox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params.put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safeValue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planCode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plan.getCode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plan.getMonths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plan.getAmountForLiqPay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+ ";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recurring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=" + </a:t>
            </a:r>
            <a:r>
              <a:rPr lang="uk-UA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recurringEnabled</a:t>
            </a: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  <a:br>
              <a:rPr lang="uk-UA" sz="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114800" y="926903"/>
            <a:ext cx="4572000" cy="91768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/>
              <a:t>Ф</a:t>
            </a:r>
            <a:r>
              <a:rPr lang="uk-UA" sz="1600" dirty="0" smtClean="0"/>
              <a:t>рагмент </a:t>
            </a:r>
            <a:r>
              <a:rPr lang="uk-UA" sz="1600" dirty="0"/>
              <a:t>методу </a:t>
            </a:r>
            <a:r>
              <a:rPr lang="uk-UA" sz="1600" dirty="0" err="1"/>
              <a:t>createSubscription</a:t>
            </a:r>
            <a:r>
              <a:rPr lang="en-US" sz="1600" dirty="0"/>
              <a:t>Checkout</a:t>
            </a:r>
            <a:r>
              <a:rPr lang="uk-UA" sz="1600" dirty="0"/>
              <a:t>(), який формує параметри платежу для передачі до </a:t>
            </a:r>
            <a:r>
              <a:rPr lang="uk-UA" sz="1600" dirty="0" err="1" smtClean="0"/>
              <a:t>LiqPay</a:t>
            </a:r>
            <a:r>
              <a:rPr lang="uk-UA" sz="1600" dirty="0" smtClean="0"/>
              <a:t>.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Приклад реалізації</a:t>
            </a:r>
            <a:endParaRPr sz="2800" dirty="0">
              <a:latin typeface="+mj-lt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57640" y="75278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user.setUsername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normalizedUsername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user.setEmail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normalizedEmail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user.setPasswordHash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passwordEncoder.encode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rawPassword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kyivNow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ZonedDateTime.</a:t>
            </a:r>
            <a:r>
              <a:rPr lang="uk-UA" sz="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ZoneId.</a:t>
            </a:r>
            <a:r>
              <a:rPr lang="uk-UA" sz="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Europe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Kiev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user.setCreatedAt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kyivNow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user.setRole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("USER");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user.setEmailVerified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prepareRegistrationConfirmationToken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userRepository.save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sendRegistrationConfirmationEmail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savedUser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90292" y="875744"/>
            <a:ext cx="4572000" cy="120084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/>
              <a:t>Фрагмент методу </a:t>
            </a:r>
            <a:r>
              <a:rPr lang="en-US" sz="1600" dirty="0" err="1" smtClean="0"/>
              <a:t>registerUser</a:t>
            </a:r>
            <a:r>
              <a:rPr lang="uk-UA" sz="1600" dirty="0" smtClean="0"/>
              <a:t>(), </a:t>
            </a:r>
            <a:r>
              <a:rPr lang="uk-UA" sz="1600" dirty="0"/>
              <a:t>в якому показано процес збереження даних користувача при спробі реєстрації, до підтвердження електронної адреси.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749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Приклад реалізації</a:t>
            </a:r>
            <a:endParaRPr sz="2800" dirty="0">
              <a:latin typeface="+mj-lt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229992" y="714643"/>
            <a:ext cx="8520600" cy="3891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authorizeHttpRequests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/**").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hasAuthority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("ADMIN")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authenticated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liqpay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callback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registration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confirm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registration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resend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confirm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authenticated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/**").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authenticated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profile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authenticated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requestMatchers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profile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/*").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anyRequest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uk-UA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permitAll</a:t>
            </a: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uk-UA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490292" y="774724"/>
            <a:ext cx="4572000" cy="14839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/>
              <a:t>Фрагмент </a:t>
            </a:r>
            <a:r>
              <a:rPr lang="uk-UA" sz="1600" dirty="0" smtClean="0"/>
              <a:t>класу </a:t>
            </a:r>
            <a:r>
              <a:rPr lang="en-US" sz="1600" dirty="0" err="1" smtClean="0"/>
              <a:t>SecurityConfig</a:t>
            </a:r>
            <a:r>
              <a:rPr lang="uk-UA" sz="1600" dirty="0" smtClean="0"/>
              <a:t>(), </a:t>
            </a:r>
            <a:r>
              <a:rPr lang="uk-UA" sz="1600" dirty="0"/>
              <a:t>який забезпечує розмежування прав доступу та закриває доступ до сторінок, призначених для </a:t>
            </a:r>
            <a:r>
              <a:rPr lang="uk-UA" sz="1600" dirty="0" err="1"/>
              <a:t>автентифікованих</a:t>
            </a:r>
            <a:r>
              <a:rPr lang="uk-UA" sz="1600" dirty="0"/>
              <a:t> користувачів або адміністраторів</a:t>
            </a:r>
            <a:r>
              <a:rPr lang="uk-UA" sz="1600" dirty="0" smtClean="0"/>
              <a:t>.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0802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Інтерфейс користувача </a:t>
            </a:r>
            <a:endParaRPr sz="2800" dirty="0">
              <a:latin typeface="+mj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25" y="1605114"/>
            <a:ext cx="4161510" cy="20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18" y="1603050"/>
            <a:ext cx="4168140" cy="2010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415685" y="1111592"/>
            <a:ext cx="1867990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/>
              <a:t>Головна сторінка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44152" y="1135701"/>
            <a:ext cx="1584088" cy="351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/>
              <a:t>Сторінка книги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Інтерфейс користувача </a:t>
            </a:r>
            <a:endParaRPr sz="2800" dirty="0">
              <a:latin typeface="+mj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66653" y="1111591"/>
            <a:ext cx="1952355" cy="37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>
                <a:highlight>
                  <a:srgbClr val="FFFFFF"/>
                </a:highlight>
                <a:ea typeface="Open Sans"/>
              </a:rPr>
              <a:t>Сторінка профілю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44152" y="1135701"/>
            <a:ext cx="1622560" cy="351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spcBef>
                <a:spcPts val="1500"/>
              </a:spcBef>
              <a:buSzPts val="1800"/>
            </a:pPr>
            <a:r>
              <a:rPr lang="uk-UA" sz="1600" dirty="0" smtClean="0"/>
              <a:t>Сторінка входу</a:t>
            </a:r>
            <a:endParaRPr lang="uk-UA" sz="1600" dirty="0">
              <a:highlight>
                <a:srgbClr val="FFFFFF"/>
              </a:highlight>
              <a:ea typeface="Open Sans"/>
              <a:cs typeface="Open Sans"/>
              <a:sym typeface="Open San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25" y="1605114"/>
            <a:ext cx="4147812" cy="201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74" y="1605112"/>
            <a:ext cx="4163432" cy="201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05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 smtClean="0">
                <a:latin typeface="+mj-lt"/>
              </a:rPr>
              <a:t>Тестування</a:t>
            </a:r>
            <a:endParaRPr sz="2800" dirty="0">
              <a:latin typeface="+mj-lt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sp>
        <p:nvSpPr>
          <p:cNvPr id="7" name="TextBox 6"/>
          <p:cNvSpPr txBox="1"/>
          <p:nvPr/>
        </p:nvSpPr>
        <p:spPr>
          <a:xfrm>
            <a:off x="268925" y="719260"/>
            <a:ext cx="47179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dirty="0" smtClean="0"/>
              <a:t>Приклад </a:t>
            </a:r>
            <a:r>
              <a:rPr lang="en-US" sz="1600" dirty="0" smtClean="0"/>
              <a:t>Test Case </a:t>
            </a:r>
            <a:r>
              <a:rPr lang="uk-UA" sz="1600" dirty="0" smtClean="0"/>
              <a:t>для успішної автентифікації</a:t>
            </a:r>
            <a:endParaRPr lang="uk-UA" sz="16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811269"/>
              </p:ext>
            </p:extLst>
          </p:nvPr>
        </p:nvGraphicFramePr>
        <p:xfrm>
          <a:off x="385011" y="1049053"/>
          <a:ext cx="7478829" cy="31800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5769"/>
                <a:gridCol w="1800370"/>
                <a:gridCol w="2112845"/>
                <a:gridCol w="1519845"/>
              </a:tblGrid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effectLst/>
                          <a:latin typeface="+mn-lt"/>
                        </a:rPr>
                        <a:t>ID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effectLst/>
                          <a:latin typeface="+mn-lt"/>
                        </a:rPr>
                        <a:t>001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>
                          <a:effectLst/>
                          <a:latin typeface="+mn-lt"/>
                        </a:rPr>
                        <a:t>Назва програми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err="1" smtClean="0">
                          <a:effectLst/>
                          <a:latin typeface="+mn-lt"/>
                        </a:rPr>
                        <a:t>YBLibrary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>
                          <a:effectLst/>
                          <a:latin typeface="+mn-lt"/>
                        </a:rPr>
                        <a:t>Тип перевірки 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 smtClean="0">
                          <a:effectLst/>
                          <a:latin typeface="+mn-lt"/>
                        </a:rPr>
                        <a:t>Перевірка успішної</a:t>
                      </a:r>
                      <a:r>
                        <a:rPr lang="uk-UA" sz="800" b="0" baseline="0" dirty="0" smtClean="0">
                          <a:effectLst/>
                          <a:latin typeface="+mn-lt"/>
                        </a:rPr>
                        <a:t> автентифікації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>
                          <a:effectLst/>
                          <a:latin typeface="+mn-lt"/>
                        </a:rPr>
                        <a:t>Дата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 smtClean="0">
                          <a:effectLst/>
                          <a:latin typeface="+mn-lt"/>
                        </a:rPr>
                        <a:t>03.07.2026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>
                          <a:effectLst/>
                          <a:latin typeface="+mn-lt"/>
                        </a:rPr>
                        <a:t>Тестувальник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Єнін Б. Г.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Операційна система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>
                          <a:effectLst/>
                          <a:latin typeface="+mn-lt"/>
                        </a:rPr>
                        <a:t>Windows</a:t>
                      </a:r>
                      <a:r>
                        <a:rPr lang="uk-UA" sz="800" b="0">
                          <a:effectLst/>
                          <a:latin typeface="+mn-lt"/>
                        </a:rPr>
                        <a:t> 10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220527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Браузер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gridSpan="3"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>
                          <a:effectLst/>
                          <a:latin typeface="+mn-lt"/>
                        </a:rPr>
                        <a:t>Chrome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459770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Перевірка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Очікуваний результат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>
                          <a:effectLst/>
                          <a:latin typeface="+mn-lt"/>
                        </a:rPr>
                        <a:t>Фактичний результат</a:t>
                      </a:r>
                      <a:endParaRPr lang="uk-UA" sz="800" b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Успішність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</a:tr>
              <a:tr h="1176588"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1. Ввести в поле </a:t>
                      </a:r>
                      <a:r>
                        <a:rPr lang="uk-UA" sz="800" b="0" dirty="0" smtClean="0">
                          <a:effectLst/>
                          <a:latin typeface="+mn-lt"/>
                        </a:rPr>
                        <a:t>для </a:t>
                      </a:r>
                      <a:r>
                        <a:rPr lang="en-US" sz="800" b="0" dirty="0" smtClean="0">
                          <a:effectLst/>
                          <a:latin typeface="+mn-lt"/>
                        </a:rPr>
                        <a:t>Email/</a:t>
                      </a:r>
                      <a:r>
                        <a:rPr lang="uk-UA" sz="800" b="0" dirty="0" smtClean="0">
                          <a:effectLst/>
                          <a:latin typeface="+mn-lt"/>
                        </a:rPr>
                        <a:t>імені</a:t>
                      </a:r>
                      <a:r>
                        <a:rPr lang="uk-UA" sz="800" b="0" baseline="0" dirty="0" smtClean="0">
                          <a:effectLst/>
                          <a:latin typeface="+mn-lt"/>
                        </a:rPr>
                        <a:t> користувача «</a:t>
                      </a:r>
                      <a:r>
                        <a:rPr lang="en-US" sz="800" b="0" baseline="0" dirty="0" err="1" smtClean="0">
                          <a:effectLst/>
                          <a:latin typeface="+mn-lt"/>
                        </a:rPr>
                        <a:t>ExistingUser</a:t>
                      </a:r>
                      <a:r>
                        <a:rPr lang="uk-UA" sz="800" b="0" baseline="0" dirty="0" smtClean="0">
                          <a:effectLst/>
                          <a:latin typeface="+mn-lt"/>
                        </a:rPr>
                        <a:t>»</a:t>
                      </a:r>
                      <a:endParaRPr lang="uk-UA" sz="800" b="0" dirty="0">
                        <a:effectLst/>
                        <a:latin typeface="+mn-lt"/>
                      </a:endParaRPr>
                    </a:p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>
                          <a:effectLst/>
                          <a:latin typeface="+mn-lt"/>
                        </a:rPr>
                        <a:t>2. </a:t>
                      </a:r>
                      <a:r>
                        <a:rPr lang="uk-UA" sz="800" b="0" dirty="0" smtClean="0">
                          <a:effectLst/>
                          <a:latin typeface="+mn-lt"/>
                        </a:rPr>
                        <a:t>Ввести</a:t>
                      </a:r>
                      <a:r>
                        <a:rPr lang="uk-UA" sz="800" b="0" baseline="0" dirty="0" smtClean="0">
                          <a:effectLst/>
                          <a:latin typeface="+mn-lt"/>
                        </a:rPr>
                        <a:t> в поле для пароля «</a:t>
                      </a:r>
                      <a:r>
                        <a:rPr lang="en-US" sz="800" b="0" baseline="0" dirty="0" err="1" smtClean="0">
                          <a:effectLst/>
                          <a:latin typeface="+mn-lt"/>
                        </a:rPr>
                        <a:t>CorrectPassword</a:t>
                      </a:r>
                      <a:r>
                        <a:rPr lang="uk-UA" sz="800" b="0" baseline="0" dirty="0" smtClean="0">
                          <a:effectLst/>
                          <a:latin typeface="+mn-lt"/>
                        </a:rPr>
                        <a:t>»</a:t>
                      </a:r>
                    </a:p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3. Натиснути на кнопку «Увійти»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 smtClean="0">
                          <a:effectLst/>
                          <a:latin typeface="+mn-lt"/>
                        </a:rPr>
                        <a:t>Відкривається сторінка профілю, вхід успішний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800" b="0" dirty="0" smtClean="0">
                          <a:effectLst/>
                          <a:latin typeface="+mn-lt"/>
                        </a:rPr>
                        <a:t>Відкривається сторінка профілю, вхід успішний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  <a:tc>
                  <a:txBody>
                    <a:bodyPr/>
                    <a:lstStyle/>
                    <a:p>
                      <a:pPr lvl="0" indent="5397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>
                          <a:effectLst/>
                          <a:latin typeface="+mn-lt"/>
                        </a:rPr>
                        <a:t>OK</a:t>
                      </a:r>
                      <a:endParaRPr lang="uk-UA" sz="8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23734" marR="23734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268925" y="-12954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800" dirty="0">
                <a:latin typeface="+mj-lt"/>
              </a:rPr>
              <a:t>Підсумки </a:t>
            </a:r>
            <a:endParaRPr sz="2800" dirty="0">
              <a:latin typeface="+mj-lt"/>
            </a:endParaRP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71772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uk-UA" sz="1600" dirty="0" smtClean="0">
                <a:latin typeface="+mn-lt"/>
              </a:rPr>
              <a:t>В результаті </a:t>
            </a:r>
            <a:r>
              <a:rPr lang="uk-UA" sz="1600" dirty="0">
                <a:latin typeface="+mn-lt"/>
              </a:rPr>
              <a:t>було створено </a:t>
            </a:r>
            <a:r>
              <a:rPr lang="uk-UA" sz="1600" dirty="0" err="1">
                <a:latin typeface="+mn-lt"/>
              </a:rPr>
              <a:t>вебзастосунок</a:t>
            </a:r>
            <a:r>
              <a:rPr lang="uk-UA" sz="1600" dirty="0">
                <a:latin typeface="+mn-lt"/>
              </a:rPr>
              <a:t> </a:t>
            </a:r>
            <a:r>
              <a:rPr lang="uk-UA" sz="1600" dirty="0" smtClean="0">
                <a:latin typeface="+mn-lt"/>
              </a:rPr>
              <a:t>онлайн-бібліотеки </a:t>
            </a:r>
            <a:r>
              <a:rPr lang="en-US" sz="1600" dirty="0" err="1" smtClean="0">
                <a:latin typeface="+mn-lt"/>
              </a:rPr>
              <a:t>YBLibrary</a:t>
            </a:r>
            <a:r>
              <a:rPr lang="uk-UA" sz="1600" dirty="0" smtClean="0">
                <a:latin typeface="+mn-lt"/>
              </a:rPr>
              <a:t>, </a:t>
            </a:r>
            <a:r>
              <a:rPr lang="uk-UA" sz="1600" dirty="0">
                <a:latin typeface="+mn-lt"/>
              </a:rPr>
              <a:t>який </a:t>
            </a:r>
            <a:r>
              <a:rPr lang="uk-UA" sz="1600" dirty="0" smtClean="0">
                <a:latin typeface="+mn-lt"/>
              </a:rPr>
              <a:t>надає доступ до читання </a:t>
            </a:r>
            <a:r>
              <a:rPr lang="uk-UA" sz="1600" dirty="0">
                <a:latin typeface="+mn-lt"/>
              </a:rPr>
              <a:t>книг, ведення </a:t>
            </a:r>
            <a:r>
              <a:rPr lang="uk-UA" sz="1600" dirty="0" smtClean="0">
                <a:latin typeface="+mn-lt"/>
              </a:rPr>
              <a:t>списків книг, оцінювання, коментування та перегляду списків інших користувачів.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uk-UA" sz="1600" dirty="0" smtClean="0">
                <a:latin typeface="+mn-lt"/>
              </a:rPr>
              <a:t>Застосунок </a:t>
            </a:r>
            <a:r>
              <a:rPr lang="uk-UA" sz="1600" dirty="0">
                <a:latin typeface="+mn-lt"/>
              </a:rPr>
              <a:t>може бути використаний у якості основи для справжньої онлайн-бібліотеки, </a:t>
            </a:r>
            <a:r>
              <a:rPr lang="uk-UA" sz="1600" dirty="0" smtClean="0">
                <a:latin typeface="+mn-lt"/>
              </a:rPr>
              <a:t>а також може </a:t>
            </a:r>
            <a:r>
              <a:rPr lang="uk-UA" sz="1600" dirty="0">
                <a:latin typeface="+mn-lt"/>
              </a:rPr>
              <a:t>бути вдосконалений </a:t>
            </a:r>
            <a:r>
              <a:rPr lang="uk-UA" sz="1600" dirty="0" smtClean="0">
                <a:latin typeface="+mn-lt"/>
              </a:rPr>
              <a:t>створенням </a:t>
            </a:r>
            <a:r>
              <a:rPr lang="uk-UA" sz="1600" dirty="0">
                <a:latin typeface="+mn-lt"/>
              </a:rPr>
              <a:t>мобільного застосунку, рекомендаційної системи, підтримки </a:t>
            </a:r>
            <a:r>
              <a:rPr lang="uk-UA" sz="1600" dirty="0" err="1">
                <a:latin typeface="+mn-lt"/>
              </a:rPr>
              <a:t>аудіокниг</a:t>
            </a:r>
            <a:r>
              <a:rPr lang="uk-UA" sz="1600" dirty="0">
                <a:latin typeface="+mn-lt"/>
              </a:rPr>
              <a:t> та </a:t>
            </a:r>
            <a:r>
              <a:rPr lang="uk-UA" sz="1600" dirty="0" smtClean="0">
                <a:latin typeface="+mn-lt"/>
              </a:rPr>
              <a:t>переходу на міжнародний ринок за рахунок видань багатьма мовами.</a:t>
            </a:r>
            <a:endParaRPr lang="uk-UA" sz="1600" dirty="0" smtClean="0">
              <a:latin typeface="+mn-lt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_презентації_до_ККП_бакалавра_2025 (2)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(2)</Template>
  <TotalTime>1049</TotalTime>
  <Words>741</Words>
  <Application>Microsoft Office PowerPoint</Application>
  <PresentationFormat>Экран (16:9)</PresentationFormat>
  <Paragraphs>154</Paragraphs>
  <Slides>19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Economica</vt:lpstr>
      <vt:lpstr>Times New Roman</vt:lpstr>
      <vt:lpstr>Open Sans</vt:lpstr>
      <vt:lpstr>Courier New</vt:lpstr>
      <vt:lpstr>Шаблон_презентації_до_ККП_бакалавра_2025 (2)</vt:lpstr>
      <vt:lpstr>Вебзастосунок для онлайн-бібліотеки</vt:lpstr>
      <vt:lpstr>Мета роботи</vt:lpstr>
      <vt:lpstr>Аналіз проблеми (аналіз існуючих рішень) </vt:lpstr>
      <vt:lpstr>Amazon (Kindle Unlimited)</vt:lpstr>
      <vt:lpstr>Librarius</vt:lpstr>
      <vt:lpstr>Open Library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Приклад реалізації</vt:lpstr>
      <vt:lpstr>Інтерфейс користувача </vt:lpstr>
      <vt:lpstr>Інтерфейс користувача </vt:lpstr>
      <vt:lpstr>Тестування</vt:lpstr>
      <vt:lpstr>Підсумки 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Веб-застосунок для ведення списків книг</dc:title>
  <dc:creator>Asus</dc:creator>
  <cp:lastModifiedBy>Asus</cp:lastModifiedBy>
  <cp:revision>47</cp:revision>
  <dcterms:created xsi:type="dcterms:W3CDTF">2025-08-26T14:15:52Z</dcterms:created>
  <dcterms:modified xsi:type="dcterms:W3CDTF">2026-07-10T16:30:57Z</dcterms:modified>
</cp:coreProperties>
</file>